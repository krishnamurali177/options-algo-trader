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4AA"/>
                </a:solidFill>
              </a:defRPr>
            </a:pPr>
            <a:r>
              <a:t>Options Algo Trader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A fully algorithmic intraday options scalping system</a:t>
            </a:r>
          </a:p>
          <a:p>
            <a:pPr algn="l">
              <a:defRPr sz="2000" b="0">
                <a:solidFill>
                  <a:srgbClr val="FFFFFF"/>
                </a:solidFill>
              </a:defRPr>
            </a:pPr>
          </a:p>
          <a:p>
            <a:pPr algn="l">
              <a:defRPr sz="2000" b="0">
                <a:solidFill>
                  <a:srgbClr val="FFFFFF"/>
                </a:solidFill>
              </a:defRPr>
            </a:pPr>
            <a:r>
              <a:t>• No external LLM or AI API required</a:t>
            </a:r>
          </a:p>
          <a:p>
            <a:pPr algn="l">
              <a:defRPr sz="2000" b="0">
                <a:solidFill>
                  <a:srgbClr val="FFFFFF"/>
                </a:solidFill>
              </a:defRPr>
            </a:pPr>
            <a:r>
              <a:t>• Connects to brokers via MCP (Model Context Protocol)</a:t>
            </a:r>
          </a:p>
          <a:p>
            <a:pPr algn="l">
              <a:defRPr sz="2000" b="0">
                <a:solidFill>
                  <a:srgbClr val="FFFFFF"/>
                </a:solidFill>
              </a:defRPr>
            </a:pPr>
            <a:r>
              <a:t>• Auto-selects Buy Call vs Buy Put based on quantitative signals</a:t>
            </a:r>
          </a:p>
          <a:p>
            <a:pPr algn="l">
              <a:defRPr sz="2000" b="0">
                <a:solidFill>
                  <a:srgbClr val="FFFFFF"/>
                </a:solidFill>
              </a:defRPr>
            </a:pPr>
            <a:r>
              <a:t>• Trades 0DTE ATM options with bracket orders</a:t>
            </a:r>
          </a:p>
          <a:p>
            <a:pPr algn="l">
              <a:defRPr sz="2000" b="0">
                <a:solidFill>
                  <a:srgbClr val="FFFFFF"/>
                </a:solidFill>
              </a:defRPr>
            </a:pPr>
          </a:p>
          <a:p>
            <a:pPr algn="l">
              <a:defRPr sz="2000" b="0">
                <a:solidFill>
                  <a:srgbClr val="FFFFFF"/>
                </a:solidFill>
              </a:defRPr>
            </a:pPr>
            <a:r>
              <a:t>Validated: 2 years | 515 days | 528 trades | +$54,135 option P&amp;L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4AA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</a:defRPr>
            </a:pPr>
            <a:r>
              <a:t>Market Data → Technical Indicators → Signal Pipeline → Execution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10312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51435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00D4A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Market Analyzer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VIX, RSI, SMA, Bollinger, MACD, ATR, ZLEMA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Opening Range (60m)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Breakout direction + weighted momentum score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Recent Momentum (30m)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Real-time directional snapshot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Quality Scorer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11-point confidence gate (0–13)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Momentum Cascade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Explosion detector (VPVR + ZLEMA + volume climax)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Choppiness Filter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Blocks trades on whipsaw days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Risk Manager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7 guardrails + circuit breaker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4AA"/>
                </a:solidFill>
              </a:defRPr>
            </a:pPr>
            <a:r>
              <a:t>Phase 1: Weighted Momentum 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</a:defRPr>
            </a:pPr>
            <a:r>
              <a:t>M = clamp( Σ sᵢ · wᵢ , -100, +100 )    where sᵢ ∈ {-1, 0, +1}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0005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</a:defRPr>
                      </a:pPr>
                      <a:r>
                        <a:t>Signal</a:t>
                      </a:r>
                    </a:p>
                  </a:txBody>
                  <a:tcPr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</a:defRPr>
                      </a:pPr>
                      <a:r>
                        <a:t>Bullish (+1)</a:t>
                      </a:r>
                    </a:p>
                  </a:txBody>
                  <a:tcPr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</a:defRPr>
                      </a:pPr>
                      <a:r>
                        <a:t>Bearish (-1)</a:t>
                      </a:r>
                    </a:p>
                  </a:txBody>
                  <a:tcPr>
                    <a:solidFill>
                      <a:srgbClr val="00D4A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Price vs Range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Upper 30% of OR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Lower 30% of OR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Intraday RSI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RSI &gt; 60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RSI &lt; 40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Intraday MACD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Histogram &gt; 0.05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Histogram &lt; -0.05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VWAP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Price &gt; VWAP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Price &lt; VWAP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Volume Surge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Surge + M &gt; 0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Surge + M &lt; 0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OR Candle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Body &gt; 30% bullish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Body &lt; -30% bearish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VIX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VIX &gt; 20 + M &gt; 0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VIX &gt; 20 + M &lt; 0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486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M ≥ 25 → BUY CALL  |  M ≤ -25 → BUY PUT  |  else → SKIP</a:t>
            </a:r>
          </a:p>
          <a:p>
            <a:pPr algn="l">
              <a:defRPr sz="1600" b="0">
                <a:solidFill>
                  <a:srgbClr val="CCCCCC"/>
                </a:solidFill>
              </a:defRPr>
            </a:pPr>
            <a:r>
              <a:t>Total weight budget: 85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4AA"/>
                </a:solidFill>
              </a:defRPr>
            </a:pPr>
            <a:r>
              <a:t>Phase 2: 11-Point Quality 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</a:defRPr>
            </a:pPr>
            <a:r>
              <a:t>Q = Σ signals − penalties    (max 13 points)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1350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</a:defRPr>
                      </a:pPr>
                      <a:r>
                        <a:t>Signal</a:t>
                      </a:r>
                    </a:p>
                  </a:txBody>
                  <a:tcPr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</a:defRPr>
                      </a:pPr>
                      <a:r>
                        <a:t>Wt</a:t>
                      </a:r>
                    </a:p>
                  </a:txBody>
                  <a:tcPr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</a:defRPr>
                      </a:pPr>
                      <a:r>
                        <a:t>Condition</a:t>
                      </a:r>
                    </a:p>
                  </a:txBody>
                  <a:tcPr>
                    <a:solidFill>
                      <a:srgbClr val="00D4AA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Breakout Direction Aligned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+2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OR breakout matches direction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Breakout Against (penalty)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−1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OR opposes direction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Breakout Confirmed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+1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|M| ≥ 40, aligned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Recent Direction Aligned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+2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30-min momentum matches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Recent Against (penalty)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−1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30-min opposes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Volume Surge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+1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V_ratio ≥ 1.2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VIX Elevated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+1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VIX &gt; 18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VWAP Confirmation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+1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Price vs SMA₂₀ aligned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Trend Alignment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+1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SMA₂₀ vs SMA₅₀ aligned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Dual Momentum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+1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Both M ≥ 40, aligned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Volume Climax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+1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V_ratio ≥ 2.0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ZLEMA Trend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+1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ZLEMA₈ &gt; ZLEMA₂₁ cross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31351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VPVR Level Break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+1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Price broke HVN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4AA"/>
                </a:solidFill>
              </a:defRPr>
            </a:pPr>
            <a:r>
              <a:t>Phase 3: Execution Levels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</a:defRPr>
            </a:pPr>
            <a:r>
              <a:t>Buy Call Levels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737360"/>
          <a:ext cx="5486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0233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</a:defRPr>
                      </a:pPr>
                      <a:r>
                        <a:t>Level</a:t>
                      </a:r>
                    </a:p>
                  </a:txBody>
                  <a:tcPr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</a:defRPr>
                      </a:pPr>
                      <a:r>
                        <a:t>Formula</a:t>
                      </a:r>
                    </a:p>
                  </a:txBody>
                  <a:tcPr>
                    <a:solidFill>
                      <a:srgbClr val="00D4A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Entry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H_active − 0.10 × (H − L)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Stop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midpoint − 0.02 × ATR₁₄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Target 1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Entry + 0.75R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Target 2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Entry + 1.5R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931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</a:defRPr>
            </a:pPr>
            <a:r>
              <a:t>Buy Put Levels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4480560"/>
          <a:ext cx="5486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0233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</a:defRPr>
                      </a:pPr>
                      <a:r>
                        <a:t>Level</a:t>
                      </a:r>
                    </a:p>
                  </a:txBody>
                  <a:tcPr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</a:defRPr>
                      </a:pPr>
                      <a:r>
                        <a:t>Formula</a:t>
                      </a:r>
                    </a:p>
                  </a:txBody>
                  <a:tcPr>
                    <a:solidFill>
                      <a:srgbClr val="00D4A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Entry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L_active + 0.10 × (H − L)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Stop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midpoint + 0.02 × ATR₁₄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Target 1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Entry − 0.75R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Target 2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Entry − 1.5R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Exit Rules:</a:t>
            </a:r>
          </a:p>
          <a:p>
            <a:pPr algn="l">
              <a:defRPr sz="1600" b="0">
                <a:solidFill>
                  <a:srgbClr val="FFFFFF"/>
                </a:solidFill>
              </a:defRPr>
            </a:pPr>
          </a:p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T1 hit → sell half, trail stop to BE</a:t>
            </a:r>
          </a:p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T2 hit → sell remaining</a:t>
            </a:r>
          </a:p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Stop hit → full exit</a:t>
            </a:r>
          </a:p>
          <a:p>
            <a:pPr algn="l">
              <a:defRPr sz="1600" b="0">
                <a:solidFill>
                  <a:srgbClr val="FFFFFF"/>
                </a:solidFill>
              </a:defRPr>
            </a:pPr>
            <a:r>
              <a:t>• Time stop → close at 3:00 PM ET</a:t>
            </a:r>
          </a:p>
          <a:p>
            <a:pPr algn="l">
              <a:defRPr sz="1600" b="0">
                <a:solidFill>
                  <a:srgbClr val="FFFFFF"/>
                </a:solidFill>
              </a:defRPr>
            </a:pPr>
          </a:p>
          <a:p>
            <a:pPr algn="l">
              <a:defRPr sz="1600" b="0">
                <a:solidFill>
                  <a:srgbClr val="FFFFFF"/>
                </a:solidFill>
              </a:defRPr>
            </a:pPr>
            <a:r>
              <a:t>Active Range = most recent 30-min</a:t>
            </a:r>
          </a:p>
          <a:p>
            <a:pPr algn="l">
              <a:defRPr sz="1600" b="0">
                <a:solidFill>
                  <a:srgbClr val="FFFFFF"/>
                </a:solidFill>
              </a:defRPr>
            </a:pPr>
            <a:r>
              <a:t>high/low (refreshes throughout day)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4AA"/>
                </a:solidFill>
              </a:defRPr>
            </a:pPr>
            <a:r>
              <a:t>Phase 4: Momentum Cascade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</a:defRPr>
            </a:pPr>
            <a:r>
              <a:t>Explosion Score E ∈ [0, 10]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920240"/>
          <a:ext cx="7315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18011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</a:defRPr>
                      </a:pPr>
                      <a:r>
                        <a:t>Signal</a:t>
                      </a:r>
                    </a:p>
                  </a:txBody>
                  <a:tcPr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</a:defRPr>
                      </a:pPr>
                      <a:r>
                        <a:t>Max</a:t>
                      </a:r>
                    </a:p>
                  </a:txBody>
                  <a:tcPr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0D4AA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Price Acceleration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+2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RoC increasing over consecutive windows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Volume Climax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+2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Volume ≥ 2× avg AND accelerating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VPVR Cascade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+2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≥ 3 High Volume Nodes broken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Quality Boost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+2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Quality ≥ 8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Dual Momentum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+2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Both OR + recent strongly aligned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ZLEMA Trend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+1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Zero-Lag EMA crossover confirms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2120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E ≥ 7 → ⚡ ACT NOW  |  4 ≤ E &lt; 7 → 🔔 WATCH  |  E &lt; 4 → ⏳ WAIT</a:t>
            </a:r>
          </a:p>
          <a:p>
            <a:pPr algn="l">
              <a:defRPr sz="1600" b="0">
                <a:solidFill>
                  <a:srgbClr val="CCCCCC"/>
                </a:solidFill>
              </a:defRPr>
            </a:pPr>
            <a:r>
              <a:t>Strike: E≥8 → 2 OTM | E≥6 → 1 OTM | else ATM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4AA"/>
                </a:solidFill>
              </a:defRPr>
            </a:pPr>
            <a:r>
              <a:t>Phase 5: Choppiness Filter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</a:defRPr>
            </a:pPr>
            <a:r>
              <a:t>C = min(10, C_CI + C_rev + C_bar + C_streak)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920240"/>
          <a:ext cx="9144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  <a:gridCol w="304800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</a:defRPr>
                      </a:pPr>
                      <a:r>
                        <a:t>Max</a:t>
                      </a:r>
                    </a:p>
                  </a:txBody>
                  <a:tcPr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0D4A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Kaufman CI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+3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Efficiency ratio ≥ 0.70 → +3, ≥ 0.60 → +2, ≥ 0.55 → +1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Direction Reversals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+3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≥ 60% bars reverse → +3, ≥ 50% → +2, ≥ 45% → +1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Bar Range Ratio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+2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Day range / avg bar range &lt; 6 → +2, &lt; 10 → +1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Max Streak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+2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Longest same-dir streak ≤ 2 → +2, &lt; 3 → +1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572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C ≥ 8 → 🌊 EXTREMELY CHOPPY | 6-7 → CHOPPY | 4-5 → ⚠️ MIXED | &lt; 4 → ✅ TRENDING</a:t>
            </a:r>
          </a:p>
          <a:p>
            <a:pPr algn="l">
              <a:defRPr sz="1600" b="0">
                <a:solidFill>
                  <a:srgbClr val="FFFFFF"/>
                </a:solidFill>
              </a:defRPr>
            </a:pPr>
          </a:p>
          <a:p>
            <a:pPr algn="l">
              <a:defRPr sz="1600" b="0">
                <a:solidFill>
                  <a:srgbClr val="FFFFFF"/>
                </a:solidFill>
              </a:defRPr>
            </a:pPr>
            <a:r>
              <a:t>Direction Stability Gate: Signal must be consistent ≥ 2 consecutive</a:t>
            </a:r>
          </a:p>
          <a:p>
            <a:pPr algn="l">
              <a:defRPr sz="1600" b="0">
                <a:solidFill>
                  <a:srgbClr val="FFFFFF"/>
                </a:solidFill>
              </a:defRPr>
            </a:pPr>
            <a:r>
              <a:t>windows before trigger fires (prevents flip-flop on choppy days)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4AA"/>
                </a:solidFill>
              </a:defRPr>
            </a:pPr>
            <a:r>
              <a:t>Replay Sweet Spot — Testing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Bar-by-bar historical simulation using 5-min data from Alpaca</a:t>
            </a:r>
          </a:p>
          <a:p>
            <a:pPr algn="l">
              <a:defRPr sz="1800" b="0">
                <a:solidFill>
                  <a:srgbClr val="FFFFFF"/>
                </a:solidFill>
              </a:defRPr>
            </a:pPr>
            <a:r>
              <a:t>— the most realistic test short of live paper trading.</a:t>
            </a:r>
          </a:p>
          <a:p>
            <a:pPr algn="l">
              <a:defRPr sz="1800" b="0">
                <a:solidFill>
                  <a:srgbClr val="FFFFFF"/>
                </a:solidFill>
              </a:defRPr>
            </a:pPr>
          </a:p>
          <a:p>
            <a:pPr algn="l">
              <a:defRPr sz="1800" b="0">
                <a:solidFill>
                  <a:srgbClr val="FFFFFF"/>
                </a:solidFill>
              </a:defRPr>
            </a:pPr>
            <a:r>
              <a:t>What it evaluates each bar:</a:t>
            </a:r>
          </a:p>
          <a:p>
            <a:pPr algn="l">
              <a:defRPr sz="1800" b="0">
                <a:solidFill>
                  <a:srgbClr val="FFFFFF"/>
                </a:solidFill>
              </a:defRPr>
            </a:pPr>
            <a:r>
              <a:t>  1. Compute opening range (first 60 min)</a:t>
            </a:r>
          </a:p>
          <a:p>
            <a:pPr algn="l">
              <a:defRPr sz="1800" b="0">
                <a:solidFill>
                  <a:srgbClr val="FFFFFF"/>
                </a:solidFill>
              </a:defRPr>
            </a:pPr>
            <a:r>
              <a:t>  2. Calculate momentum score M</a:t>
            </a:r>
          </a:p>
          <a:p>
            <a:pPr algn="l">
              <a:defRPr sz="1800" b="0">
                <a:solidFill>
                  <a:srgbClr val="FFFFFF"/>
                </a:solidFill>
              </a:defRPr>
            </a:pPr>
            <a:r>
              <a:t>  3. Score quality Q and explosion E</a:t>
            </a:r>
          </a:p>
          <a:p>
            <a:pPr algn="l">
              <a:defRPr sz="1800" b="0">
                <a:solidFill>
                  <a:srgbClr val="FFFFFF"/>
                </a:solidFill>
              </a:defRPr>
            </a:pPr>
            <a:r>
              <a:t>  4. Apply choppiness filter C</a:t>
            </a:r>
          </a:p>
          <a:p>
            <a:pPr algn="l">
              <a:defRPr sz="1800" b="0">
                <a:solidFill>
                  <a:srgbClr val="FFFFFF"/>
                </a:solidFill>
              </a:defRPr>
            </a:pPr>
            <a:r>
              <a:t>  5. Check direction stability</a:t>
            </a:r>
          </a:p>
          <a:p>
            <a:pPr algn="l">
              <a:defRPr sz="1800" b="0">
                <a:solidFill>
                  <a:srgbClr val="FFFFFF"/>
                </a:solidFill>
              </a:defRPr>
            </a:pPr>
            <a:r>
              <a:t>  6. If trigger fires → simulate entry, stops, targets</a:t>
            </a:r>
          </a:p>
          <a:p>
            <a:pPr algn="l">
              <a:defRPr sz="1800" b="0">
                <a:solidFill>
                  <a:srgbClr val="FFFFFF"/>
                </a:solidFill>
              </a:defRPr>
            </a:pPr>
            <a:r>
              <a:t>  7. Model 0DTE option P&amp;L with delta-gamma + theta decay</a:t>
            </a:r>
          </a:p>
          <a:p>
            <a:pPr algn="l">
              <a:defRPr sz="1800" b="0">
                <a:solidFill>
                  <a:srgbClr val="FFFFFF"/>
                </a:solidFill>
              </a:defRPr>
            </a:pPr>
          </a:p>
          <a:p>
            <a:pPr algn="l">
              <a:defRPr sz="1800" b="0">
                <a:solidFill>
                  <a:srgbClr val="FFFFFF"/>
                </a:solidFill>
              </a:defRPr>
            </a:pPr>
            <a:r>
              <a:t>Command:  python scripts/replay_sweet_spot.py --days 730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4AA"/>
                </a:solidFill>
              </a:defRPr>
            </a:pPr>
            <a:r>
              <a:t>Golden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9144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4572000"/>
              </a:tblGrid>
              <a:tr h="35922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0D4AA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Mode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0DTE Options (ATM, δ=0.50)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Quality range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3–7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Cascade (explosion) ≥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Max choppiness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5 (strict)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Max trades/day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Max stops/day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Scan window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10:30 AM – 2:00 PM ET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Entry confirmation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Price in upper/lower 25% of OR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Cascade-scaled targets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E≥8→1.5R, E≥6→1.25R, else 1.0R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Contract sizing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 contracts flat (all tiers)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Cooldown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15 min between triggers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GainzAlgoV2 early exit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ON (RSI 70/30, body 0.7)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3592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Regime guard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ON (SMA₂₀ vs SMA₅₀)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4AA"/>
                </a:solidFill>
              </a:defRPr>
            </a:pPr>
            <a:r>
              <a:t>2-Year Results: SPY Apr 2024 – May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</a:defRPr>
            </a:pPr>
            <a:r>
              <a:t>515 Trading Days  |  0DTE Options  |  Cascade Sizing (3ct flat)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73152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3048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0D4A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Triggers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528 (1.0/day)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Win Rate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58.9%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Profit Factor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4.30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Total Option P&amp;L (per contract)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+$18,045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Total Option P&amp;L (cascade-sized)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+$54,135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Avg P&amp;L/Trade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+$1.03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Avg Winner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+$2.27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Avg Loser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−$0.76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R:R Ratio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3.00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Sharpe Ratio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5.28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Sortino Ratio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23.92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Max Drawdown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$8.40 (1.6% of peak)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Calmar Ratio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64.41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Longest Underwater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26 days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4AA"/>
                </a:solidFill>
              </a:defRPr>
            </a:pPr>
            <a:r>
              <a:t>Choppiness Filter Impact (1yr SPY)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9144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5334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</a:defRPr>
                      </a:pPr>
                      <a:r>
                        <a:t>Chop Filter</a:t>
                      </a:r>
                    </a:p>
                  </a:txBody>
                  <a:tcPr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</a:defRPr>
                      </a:pPr>
                      <a:r>
                        <a:t>Trades</a:t>
                      </a:r>
                    </a:p>
                  </a:txBody>
                  <a:tcPr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</a:defRPr>
                      </a:pPr>
                      <a:r>
                        <a:t>Win Rate</a:t>
                      </a:r>
                    </a:p>
                  </a:txBody>
                  <a:tcPr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</a:defRPr>
                      </a:pPr>
                      <a:r>
                        <a:t>Profit Factor</a:t>
                      </a:r>
                    </a:p>
                  </a:txBody>
                  <a:tcPr>
                    <a:solidFill>
                      <a:srgbClr val="00D4A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Off (≤10)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64.3%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3.09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≤9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70.8%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3.87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≤7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78.9%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5.92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≤6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91.7%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20.70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≤5 (golden)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90.9%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18.58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</a:defRPr>
            </a:pPr>
            <a:r>
              <a:t>The strict choppiness filter transforms a decent strategy into an elite one.</a:t>
            </a:r>
          </a:p>
          <a:p>
            <a:pPr algn="l">
              <a:defRPr sz="1800" b="1">
                <a:solidFill>
                  <a:srgbClr val="FFD700"/>
                </a:solidFill>
              </a:defRPr>
            </a:pPr>
            <a:r>
              <a:t>Recommended: max-chop = 5 for live trading.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4AA"/>
                </a:solidFill>
              </a:defRPr>
            </a:pPr>
            <a:r>
              <a:t>Live Agent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</a:defRPr>
            </a:pPr>
            <a:r>
              <a:t>Autonomous Execution Pipeline:</a:t>
            </a:r>
          </a:p>
          <a:p>
            <a:pPr algn="l">
              <a:defRPr sz="1700" b="0">
                <a:solidFill>
                  <a:srgbClr val="FFFFFF"/>
                </a:solidFill>
              </a:defRPr>
            </a:pPr>
          </a:p>
          <a:p>
            <a:pPr algn="l">
              <a:defRPr sz="1700" b="0">
                <a:solidFill>
                  <a:srgbClr val="FFFFFF"/>
                </a:solidFill>
              </a:defRPr>
            </a:pPr>
            <a:r>
              <a:t>  Market Open → Wait until 10:30 AM ET</a:t>
            </a:r>
          </a:p>
          <a:p>
            <a:pPr algn="l">
              <a:defRPr sz="1700" b="0">
                <a:solidFill>
                  <a:srgbClr val="FFFFFF"/>
                </a:solidFill>
              </a:defRPr>
            </a:pPr>
            <a:r>
              <a:t>    → Scan every 5 min</a:t>
            </a:r>
          </a:p>
          <a:p>
            <a:pPr algn="l">
              <a:defRPr sz="1700" b="0">
                <a:solidFill>
                  <a:srgbClr val="FFFFFF"/>
                </a:solidFill>
              </a:defRPr>
            </a:pPr>
            <a:r>
              <a:t>    → Evaluate all phases (M, Q, E, C)</a:t>
            </a:r>
          </a:p>
          <a:p>
            <a:pPr algn="l">
              <a:defRPr sz="1700" b="0">
                <a:solidFill>
                  <a:srgbClr val="FFFFFF"/>
                </a:solidFill>
              </a:defRPr>
            </a:pPr>
            <a:r>
              <a:t>    → If trigger fires:</a:t>
            </a:r>
          </a:p>
          <a:p>
            <a:pPr algn="l">
              <a:defRPr sz="1700" b="0">
                <a:solidFill>
                  <a:srgbClr val="FFFFFF"/>
                </a:solidFill>
              </a:defRPr>
            </a:pPr>
            <a:r>
              <a:t>        → Select 0DTE ATM contract (δ=0.50)</a:t>
            </a:r>
          </a:p>
          <a:p>
            <a:pPr algn="l">
              <a:defRPr sz="1700" b="0">
                <a:solidFill>
                  <a:srgbClr val="FFFFFF"/>
                </a:solidFill>
              </a:defRPr>
            </a:pPr>
            <a:r>
              <a:t>        → Place bracket order (entry + stop + target)</a:t>
            </a:r>
          </a:p>
          <a:p>
            <a:pPr algn="l">
              <a:defRPr sz="1700" b="0">
                <a:solidFill>
                  <a:srgbClr val="FFFFFF"/>
                </a:solidFill>
              </a:defRPr>
            </a:pPr>
            <a:r>
              <a:t>        → Monitor with GainzAlgoV2 early exit</a:t>
            </a:r>
          </a:p>
          <a:p>
            <a:pPr algn="l">
              <a:defRPr sz="1700" b="0">
                <a:solidFill>
                  <a:srgbClr val="FFFFFF"/>
                </a:solidFill>
              </a:defRPr>
            </a:pPr>
            <a:r>
              <a:t>    → Enforce max 3 trades/day, 1 stop/day</a:t>
            </a:r>
          </a:p>
          <a:p>
            <a:pPr algn="l">
              <a:defRPr sz="1700" b="0">
                <a:solidFill>
                  <a:srgbClr val="FFFFFF"/>
                </a:solidFill>
              </a:defRPr>
            </a:pPr>
            <a:r>
              <a:t>    → Close all at 3:00 PM ET</a:t>
            </a:r>
          </a:p>
          <a:p>
            <a:pPr algn="l">
              <a:defRPr sz="1700" b="0">
                <a:solidFill>
                  <a:srgbClr val="FFFFFF"/>
                </a:solidFill>
              </a:defRPr>
            </a:pPr>
          </a:p>
          <a:p>
            <a:pPr algn="l">
              <a:defRPr sz="1700" b="0">
                <a:solidFill>
                  <a:srgbClr val="FFFFFF"/>
                </a:solidFill>
              </a:defRPr>
            </a:pPr>
            <a:r>
              <a:t>Broker Integration:</a:t>
            </a:r>
          </a:p>
          <a:p>
            <a:pPr algn="l">
              <a:defRPr sz="1700" b="0">
                <a:solidFill>
                  <a:srgbClr val="FFFFFF"/>
                </a:solidFill>
              </a:defRPr>
            </a:pPr>
            <a:r>
              <a:t>  • Paper: Alpaca (free)  |  Live: Robinhood via MCP</a:t>
            </a:r>
          </a:p>
          <a:p>
            <a:pPr algn="l">
              <a:defRPr sz="1700" b="0">
                <a:solidFill>
                  <a:srgbClr val="FFFFFF"/>
                </a:solidFill>
              </a:defRPr>
            </a:pPr>
            <a:r>
              <a:t>  • Logs + JSON journal per day</a:t>
            </a:r>
          </a:p>
          <a:p>
            <a:pPr algn="l">
              <a:defRPr sz="1700" b="0">
                <a:solidFill>
                  <a:srgbClr val="FFFFFF"/>
                </a:solidFill>
              </a:defRPr>
            </a:pPr>
          </a:p>
          <a:p>
            <a:pPr algn="l">
              <a:defRPr sz="1700" b="0">
                <a:solidFill>
                  <a:srgbClr val="FFFFFF"/>
                </a:solidFill>
              </a:defRPr>
            </a:pPr>
            <a:r>
              <a:t>Safety: Circuit breaker (1 stop/day) | Regime guard | Time stop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D4AA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Why This Works:</a:t>
            </a:r>
          </a:p>
          <a:p>
            <a:pPr algn="l">
              <a:defRPr sz="1800" b="0">
                <a:solidFill>
                  <a:srgbClr val="FFFFFF"/>
                </a:solidFill>
              </a:defRPr>
            </a:pPr>
          </a:p>
          <a:p>
            <a:pPr algn="l">
              <a:defRPr sz="1800" b="0">
                <a:solidFill>
                  <a:srgbClr val="FFFFFF"/>
                </a:solidFill>
              </a:defRPr>
            </a:pPr>
            <a:r>
              <a:t>1. Multi-phase filtering — 5 layers</a:t>
            </a:r>
          </a:p>
          <a:p>
            <a:pPr algn="l">
              <a:defRPr sz="1800" b="0">
                <a:solidFill>
                  <a:srgbClr val="FFFFFF"/>
                </a:solidFill>
              </a:defRPr>
            </a:pPr>
            <a:r>
              <a:t>2. Choppiness filter — #1 loss eliminator</a:t>
            </a:r>
          </a:p>
          <a:p>
            <a:pPr algn="l">
              <a:defRPr sz="1800" b="0">
                <a:solidFill>
                  <a:srgbClr val="FFFFFF"/>
                </a:solidFill>
              </a:defRPr>
            </a:pPr>
            <a:r>
              <a:t>3. Asymmetric R:R — 3:1 winner/loser</a:t>
            </a:r>
          </a:p>
          <a:p>
            <a:pPr algn="l">
              <a:defRPr sz="1800" b="0">
                <a:solidFill>
                  <a:srgbClr val="FFFFFF"/>
                </a:solidFill>
              </a:defRPr>
            </a:pPr>
            <a:r>
              <a:t>4. Strict risk mgmt — 1 stop/day cap</a:t>
            </a:r>
          </a:p>
          <a:p>
            <a:pPr algn="l">
              <a:defRPr sz="1800" b="0">
                <a:solidFill>
                  <a:srgbClr val="FFFFFF"/>
                </a:solidFill>
              </a:defRPr>
            </a:pPr>
            <a:r>
              <a:t>5. 0DTE leverage — small moves → big gains</a:t>
            </a:r>
          </a:p>
          <a:p>
            <a:pPr algn="l">
              <a:defRPr sz="1800" b="0">
                <a:solidFill>
                  <a:srgbClr val="FFFFFF"/>
                </a:solidFill>
              </a:defRPr>
            </a:pPr>
            <a:r>
              <a:t>6. No overfitting — 2yr, 528 trades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0" y="1371600"/>
          <a:ext cx="5029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0D4A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Win Rate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58.9%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Profit Factor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4.30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Sharpe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5.28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Max Drawdown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1.6%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2yr Option P&amp;L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+$54,135</a:t>
                      </a: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